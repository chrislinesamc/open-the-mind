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A08FBE-5BD1-4DE9-997D-3A5D72C352E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Offline, once: 7,404 BigBrain sections become an OME-Zarr pyramid of 16x128x128 bricks, 7 levels, built in 6.5 minutes, every voxel identical to the PNGs. Every frame: the ray caster draws from whatever bricks are on the GPU, falling back to coarser levels; bricks it needed but lacked go to the loader, newest view and coarse levels first. The loader reads them from disk into a fixed GPU pool, evicting least-recently-used bricks. Frames are JPEG-encoded on the GPU and pushed over a WebSocket; the browser only decodes and shows them. GPU memory stays at the pool size no matter how big the volume 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DB636F-6B42-44C2-AF44-62E1E2F9574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2D8A6-96F2-43DC-80A4-C9347354B1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1C3E39-CEBD-4F19-868B-833A17B952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E8E315C-6F05-43EE-8C3B-9E11FB4C57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D1EAF7-E89E-484E-A2BA-727AABED25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9F414AF-BCC4-4094-ABE2-95B10DBE94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FC8599-4F80-45FD-8905-B4C5E48DDD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42637CF-D1B1-4BB5-AE26-0532A280CD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FFB319C-A641-449D-AF37-8CC90BA986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C447D64-FD15-4F66-9C03-0051D3AC5F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CEFD2E5-A888-44C9-9E30-01F67EE15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7A61112-8676-4938-BDBB-D0407157DB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30E871-79F8-465A-B3AB-66EA0C9CB8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F4AF48-7151-459E-A573-D85C4396C3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DB3030-D617-4EF4-B4A2-D39C88715C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D0CD15-5D4E-4183-AA65-FFD25D6990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893A73-7A11-462F-8624-347BE7A717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BBCEE1-7B48-47E6-B5D1-752F79446F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E0CA67-E2B7-4374-8A0E-21E8426368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7B217C-9815-41E6-8587-347A4A3FA1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6C6BB3-F1B1-40EC-85E0-E6A59D1C6B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5D2DF9-664E-4912-B807-622B83E55F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7721C3-482A-4996-90E2-3A8F7F04D7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812880" y="660240"/>
            <a:ext cx="7619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148" strike="noStrike">
                <a:solidFill>
                  <a:srgbClr val="e68c28"/>
                </a:solidFill>
                <a:latin typeface="Arial"/>
              </a:rPr>
              <a:t>OPEN THE MIND · METHOD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12880" y="939960"/>
            <a:ext cx="95245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3f1ec"/>
                </a:solidFill>
                <a:latin typeface="Arial"/>
              </a:rPr>
              <a:t>Streaming a 278 GB brain through a 20 GB GPU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Picture 3" descr="logo.png"/>
          <p:cNvPicPr/>
          <p:nvPr/>
        </p:nvPicPr>
        <p:blipFill>
          <a:blip r:embed="rId1"/>
          <a:stretch/>
        </p:blipFill>
        <p:spPr>
          <a:xfrm>
            <a:off x="10617120" y="609480"/>
            <a:ext cx="761760" cy="761760"/>
          </a:xfrm>
          <a:prstGeom prst="rect">
            <a:avLst/>
          </a:prstGeom>
          <a:ln w="0">
            <a:noFill/>
          </a:ln>
        </p:spPr>
      </p:pic>
      <p:sp>
        <p:nvSpPr>
          <p:cNvPr id="76" name="TextBox 6"/>
          <p:cNvSpPr/>
          <p:nvPr/>
        </p:nvSpPr>
        <p:spPr>
          <a:xfrm>
            <a:off x="4444920" y="2019240"/>
            <a:ext cx="51051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97" strike="noStrike">
                <a:solidFill>
                  <a:srgbClr val="e68c28"/>
                </a:solidFill>
                <a:latin typeface="Arial"/>
              </a:rPr>
              <a:t>EVERY FRAME · GPU SERVER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4444920" y="2260440"/>
            <a:ext cx="5105160" cy="25200"/>
          </a:xfrm>
          <a:prstGeom prst="rect">
            <a:avLst/>
          </a:prstGeom>
          <a:solidFill>
            <a:srgbClr val="e68c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9893160" y="2019240"/>
            <a:ext cx="1472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97" strike="noStrike">
                <a:solidFill>
                  <a:srgbClr val="a3a7ad"/>
                </a:solidFill>
                <a:latin typeface="Arial"/>
              </a:rPr>
              <a:t>VIEWER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 9"/>
          <p:cNvSpPr/>
          <p:nvPr/>
        </p:nvSpPr>
        <p:spPr>
          <a:xfrm>
            <a:off x="9893160" y="2260440"/>
            <a:ext cx="1472760" cy="25200"/>
          </a:xfrm>
          <a:prstGeom prst="rect">
            <a:avLst/>
          </a:prstGeom>
          <a:solidFill>
            <a:srgbClr val="3a3f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ounded Rectangle 10"/>
          <p:cNvSpPr/>
          <p:nvPr/>
        </p:nvSpPr>
        <p:spPr>
          <a:xfrm>
            <a:off x="81288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2e32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96516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Sections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96516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7,404 PNGs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20 µm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278 GB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3" name="Connector 13"/>
          <p:cNvCxnSpPr/>
          <p:nvPr/>
        </p:nvCxnSpPr>
        <p:spPr>
          <a:xfrm>
            <a:off x="2298600" y="3301920"/>
            <a:ext cx="317880" cy="360"/>
          </a:xfrm>
          <a:prstGeom prst="straightConnector1">
            <a:avLst/>
          </a:prstGeom>
          <a:ln w="19050">
            <a:solidFill>
              <a:srgbClr val="a3a7ad"/>
            </a:solidFill>
            <a:round/>
            <a:tailEnd len="med" type="triangle" w="med"/>
          </a:ln>
        </p:spPr>
      </p:cxnSp>
      <p:sp>
        <p:nvSpPr>
          <p:cNvPr id="84" name="Rounded Rectangle 14"/>
          <p:cNvSpPr/>
          <p:nvPr/>
        </p:nvSpPr>
        <p:spPr>
          <a:xfrm>
            <a:off x="262908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2e32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278136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OME-Zarr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278136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brick pyramid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7 levels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lossless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7" name="Connector 17"/>
          <p:cNvCxnSpPr/>
          <p:nvPr/>
        </p:nvCxnSpPr>
        <p:spPr>
          <a:xfrm>
            <a:off x="4114800" y="3301920"/>
            <a:ext cx="317520" cy="360"/>
          </a:xfrm>
          <a:prstGeom prst="straightConnector1">
            <a:avLst/>
          </a:prstGeom>
          <a:ln w="19050">
            <a:solidFill>
              <a:srgbClr val="a3a7ad"/>
            </a:solidFill>
            <a:round/>
            <a:tailEnd len="med" type="triangle" w="med"/>
          </a:ln>
        </p:spPr>
      </p:cxnSp>
      <p:sp>
        <p:nvSpPr>
          <p:cNvPr id="88" name="Rounded Rectangle 18"/>
          <p:cNvSpPr/>
          <p:nvPr/>
        </p:nvSpPr>
        <p:spPr>
          <a:xfrm>
            <a:off x="444492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e68c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459756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Loader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459756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64 threads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newest view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coarse first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" name="Connector 21"/>
          <p:cNvCxnSpPr/>
          <p:nvPr/>
        </p:nvCxnSpPr>
        <p:spPr>
          <a:xfrm>
            <a:off x="5930640" y="3301920"/>
            <a:ext cx="317880" cy="360"/>
          </a:xfrm>
          <a:prstGeom prst="straightConnector1">
            <a:avLst/>
          </a:prstGeom>
          <a:ln w="19050">
            <a:solidFill>
              <a:srgbClr val="e68c28"/>
            </a:solidFill>
            <a:round/>
            <a:tailEnd len="med" type="triangle" w="med"/>
          </a:ln>
        </p:spPr>
      </p:cxnSp>
      <p:sp>
        <p:nvSpPr>
          <p:cNvPr id="92" name="Rounded Rectangle 22"/>
          <p:cNvSpPr/>
          <p:nvPr/>
        </p:nvSpPr>
        <p:spPr>
          <a:xfrm>
            <a:off x="626112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e68c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641340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GPU cache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24"/>
          <p:cNvSpPr/>
          <p:nvPr/>
        </p:nvSpPr>
        <p:spPr>
          <a:xfrm>
            <a:off x="641340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fixed pool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page table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evicts unused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5" name="Connector 25"/>
          <p:cNvCxnSpPr/>
          <p:nvPr/>
        </p:nvCxnSpPr>
        <p:spPr>
          <a:xfrm>
            <a:off x="7746840" y="3301920"/>
            <a:ext cx="317880" cy="360"/>
          </a:xfrm>
          <a:prstGeom prst="straightConnector1">
            <a:avLst/>
          </a:prstGeom>
          <a:ln w="19050">
            <a:solidFill>
              <a:srgbClr val="e68c28"/>
            </a:solidFill>
            <a:round/>
            <a:tailEnd len="med" type="triangle" w="med"/>
          </a:ln>
        </p:spPr>
      </p:cxnSp>
      <p:sp>
        <p:nvSpPr>
          <p:cNvPr id="96" name="Rounded Rectangle 26"/>
          <p:cNvSpPr/>
          <p:nvPr/>
        </p:nvSpPr>
        <p:spPr>
          <a:xfrm>
            <a:off x="807732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e68c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7"/>
          <p:cNvSpPr/>
          <p:nvPr/>
        </p:nvSpPr>
        <p:spPr>
          <a:xfrm>
            <a:off x="822960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Ray caster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28"/>
          <p:cNvSpPr/>
          <p:nvPr/>
        </p:nvSpPr>
        <p:spPr>
          <a:xfrm>
            <a:off x="822960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Triton kernel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skips empty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colour maps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9" name="Connector 29"/>
          <p:cNvCxnSpPr/>
          <p:nvPr/>
        </p:nvCxnSpPr>
        <p:spPr>
          <a:xfrm>
            <a:off x="9563040" y="3301920"/>
            <a:ext cx="317880" cy="360"/>
          </a:xfrm>
          <a:prstGeom prst="straightConnector1">
            <a:avLst/>
          </a:prstGeom>
          <a:ln w="19050">
            <a:solidFill>
              <a:srgbClr val="a3a7ad"/>
            </a:solidFill>
            <a:round/>
            <a:tailEnd len="med" type="triangle" w="med"/>
          </a:ln>
        </p:spPr>
      </p:cxnSp>
      <p:sp>
        <p:nvSpPr>
          <p:cNvPr id="100" name="Rounded Rectangle 30"/>
          <p:cNvSpPr/>
          <p:nvPr/>
        </p:nvSpPr>
        <p:spPr>
          <a:xfrm>
            <a:off x="9893160" y="2540160"/>
            <a:ext cx="1472760" cy="1523520"/>
          </a:xfrm>
          <a:prstGeom prst="roundRect">
            <a:avLst>
              <a:gd name="adj" fmla="val 7000"/>
            </a:avLst>
          </a:prstGeom>
          <a:solidFill>
            <a:srgbClr val="1f2228"/>
          </a:solidFill>
          <a:ln w="12700">
            <a:solidFill>
              <a:srgbClr val="2e32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31"/>
          <p:cNvSpPr/>
          <p:nvPr/>
        </p:nvSpPr>
        <p:spPr>
          <a:xfrm>
            <a:off x="10045800" y="2717640"/>
            <a:ext cx="116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3f1ec"/>
                </a:solidFill>
                <a:latin typeface="Arial"/>
              </a:rPr>
              <a:t>Browser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32"/>
          <p:cNvSpPr/>
          <p:nvPr/>
        </p:nvSpPr>
        <p:spPr>
          <a:xfrm>
            <a:off x="10045800" y="3060720"/>
            <a:ext cx="1168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JPEG frames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WebSocket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live meter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3" name="Connector 33"/>
          <p:cNvCxnSpPr/>
          <p:nvPr/>
        </p:nvCxnSpPr>
        <p:spPr>
          <a:xfrm>
            <a:off x="8813520" y="4076640"/>
            <a:ext cx="360" cy="444600"/>
          </a:xfrm>
          <a:prstGeom prst="straightConnector1">
            <a:avLst/>
          </a:prstGeom>
          <a:ln w="19050">
            <a:solidFill>
              <a:srgbClr val="e68c28"/>
            </a:solidFill>
            <a:prstDash val="dash"/>
            <a:round/>
          </a:ln>
        </p:spPr>
      </p:cxnSp>
      <p:cxnSp>
        <p:nvCxnSpPr>
          <p:cNvPr id="104" name="Connector 34"/>
          <p:cNvCxnSpPr/>
          <p:nvPr/>
        </p:nvCxnSpPr>
        <p:spPr>
          <a:xfrm flipH="1">
            <a:off x="5181480" y="4520880"/>
            <a:ext cx="3632400" cy="360"/>
          </a:xfrm>
          <a:prstGeom prst="straightConnector1">
            <a:avLst/>
          </a:prstGeom>
          <a:ln w="19050">
            <a:solidFill>
              <a:srgbClr val="e68c28"/>
            </a:solidFill>
            <a:prstDash val="dash"/>
            <a:round/>
          </a:ln>
        </p:spPr>
      </p:cxnSp>
      <p:cxnSp>
        <p:nvCxnSpPr>
          <p:cNvPr id="105" name="Connector 35"/>
          <p:cNvCxnSpPr/>
          <p:nvPr/>
        </p:nvCxnSpPr>
        <p:spPr>
          <a:xfrm flipV="1">
            <a:off x="5181480" y="4089240"/>
            <a:ext cx="360" cy="432000"/>
          </a:xfrm>
          <a:prstGeom prst="straightConnector1">
            <a:avLst/>
          </a:prstGeom>
          <a:ln w="19050">
            <a:solidFill>
              <a:srgbClr val="e68c28"/>
            </a:solidFill>
            <a:prstDash val="dash"/>
            <a:round/>
            <a:tailEnd len="med" type="triangle" w="med"/>
          </a:ln>
        </p:spPr>
      </p:cxnSp>
      <p:sp>
        <p:nvSpPr>
          <p:cNvPr id="106" name="TextBox 36"/>
          <p:cNvSpPr/>
          <p:nvPr/>
        </p:nvSpPr>
        <p:spPr>
          <a:xfrm>
            <a:off x="5308560" y="4584600"/>
            <a:ext cx="33778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8c28"/>
                </a:solidFill>
                <a:latin typeface="Arial"/>
              </a:rPr>
              <a:t>bricks the view needs, but the GPU lacks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 37"/>
          <p:cNvSpPr/>
          <p:nvPr/>
        </p:nvSpPr>
        <p:spPr>
          <a:xfrm>
            <a:off x="812880" y="5156280"/>
            <a:ext cx="10566000" cy="12240"/>
          </a:xfrm>
          <a:prstGeom prst="rect">
            <a:avLst/>
          </a:prstGeom>
          <a:solidFill>
            <a:srgbClr val="2e3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38"/>
          <p:cNvSpPr/>
          <p:nvPr/>
        </p:nvSpPr>
        <p:spPr>
          <a:xfrm>
            <a:off x="812880" y="5308560"/>
            <a:ext cx="2539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3f1ec"/>
                </a:solidFill>
                <a:latin typeface="Arial"/>
              </a:rPr>
              <a:t>278 GB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39"/>
          <p:cNvSpPr/>
          <p:nvPr/>
        </p:nvSpPr>
        <p:spPr>
          <a:xfrm>
            <a:off x="812880" y="5753160"/>
            <a:ext cx="2539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volume on disk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40"/>
          <p:cNvSpPr/>
          <p:nvPr/>
        </p:nvSpPr>
        <p:spPr>
          <a:xfrm>
            <a:off x="3486240" y="5308560"/>
            <a:ext cx="2539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68c28"/>
                </a:solidFill>
                <a:latin typeface="Arial"/>
              </a:rPr>
              <a:t>20 GB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41"/>
          <p:cNvSpPr/>
          <p:nvPr/>
        </p:nvSpPr>
        <p:spPr>
          <a:xfrm>
            <a:off x="3486240" y="5753160"/>
            <a:ext cx="2539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GPU memory, fixed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42"/>
          <p:cNvSpPr/>
          <p:nvPr/>
        </p:nvSpPr>
        <p:spPr>
          <a:xfrm>
            <a:off x="6159600" y="5308560"/>
            <a:ext cx="2539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3f1ec"/>
                </a:solidFill>
                <a:latin typeface="Arial"/>
              </a:rPr>
              <a:t>60 fps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43"/>
          <p:cNvSpPr/>
          <p:nvPr/>
        </p:nvSpPr>
        <p:spPr>
          <a:xfrm>
            <a:off x="6159600" y="5753160"/>
            <a:ext cx="2539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interactive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44"/>
          <p:cNvSpPr/>
          <p:nvPr/>
        </p:nvSpPr>
        <p:spPr>
          <a:xfrm>
            <a:off x="8832960" y="5308560"/>
            <a:ext cx="2539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3f1ec"/>
                </a:solidFill>
                <a:latin typeface="Arial"/>
              </a:rPr>
              <a:t>0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45"/>
          <p:cNvSpPr/>
          <p:nvPr/>
        </p:nvSpPr>
        <p:spPr>
          <a:xfrm>
            <a:off x="8832960" y="5753160"/>
            <a:ext cx="25398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3a7ad"/>
                </a:solidFill>
                <a:latin typeface="Arial"/>
              </a:rPr>
              <a:t>voxels changed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LibreOffice/24.2.7.2$Linux_AARCH64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2026-10-19T17:19:29Z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